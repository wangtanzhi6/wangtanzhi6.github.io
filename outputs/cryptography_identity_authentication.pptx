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6007d25bd44004" /><Relationship Type="http://schemas.openxmlformats.org/officeDocument/2006/relationships/extended-properties" Target="/docProps/app.xml" Id="R3f21b403e03f4288" /><Relationship Type="http://schemas.openxmlformats.org/officeDocument/2006/relationships/officeDocument" Target="/ppt/presentation.xml" Id="R3374413b87ee4d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57f52504d94953"/>
  </p:sldMasterIdLst>
  <p:notesMasterIdLst>
    <p:notesMasterId xmlns:r="http://schemas.openxmlformats.org/officeDocument/2006/relationships" r:id="Rc982efe1b4ad459f"/>
  </p:notesMasterIdLst>
  <p:sldIdLst>
    <p:sldId xmlns:r="http://schemas.openxmlformats.org/officeDocument/2006/relationships" id="256" r:id="Ra37d9abd84374791"/>
    <p:sldId xmlns:r="http://schemas.openxmlformats.org/officeDocument/2006/relationships" id="257" r:id="R6f1e451d03154197"/>
    <p:sldId xmlns:r="http://schemas.openxmlformats.org/officeDocument/2006/relationships" id="258" r:id="R4e1bb9c32ea0408e"/>
    <p:sldId xmlns:r="http://schemas.openxmlformats.org/officeDocument/2006/relationships" id="259" r:id="Re184e2877de047b0"/>
    <p:sldId xmlns:r="http://schemas.openxmlformats.org/officeDocument/2006/relationships" id="260" r:id="Ra7b94ed08b1c4f76"/>
    <p:sldId xmlns:r="http://schemas.openxmlformats.org/officeDocument/2006/relationships" id="261" r:id="R4efdc2e704614c5c"/>
    <p:sldId xmlns:r="http://schemas.openxmlformats.org/officeDocument/2006/relationships" id="262" r:id="R577b6f04e2554832"/>
    <p:sldId xmlns:r="http://schemas.openxmlformats.org/officeDocument/2006/relationships" id="263" r:id="Rce728423ed94493c"/>
    <p:sldId xmlns:r="http://schemas.openxmlformats.org/officeDocument/2006/relationships" id="264" r:id="R1a0a863708094902"/>
    <p:sldId xmlns:r="http://schemas.openxmlformats.org/officeDocument/2006/relationships" id="265" r:id="R8d268a3fd2774c3f"/>
    <p:sldId xmlns:r="http://schemas.openxmlformats.org/officeDocument/2006/relationships" id="266" r:id="R6bad115634ea4685"/>
    <p:sldId xmlns:r="http://schemas.openxmlformats.org/officeDocument/2006/relationships" id="267" r:id="R366eb1d30be6407c"/>
    <p:sldId xmlns:r="http://schemas.openxmlformats.org/officeDocument/2006/relationships" id="268" r:id="R87d3b360dc01426e"/>
    <p:sldId xmlns:r="http://schemas.openxmlformats.org/officeDocument/2006/relationships" id="269" r:id="R55bb0e283ead415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68cd80a77b4fc9" /><Relationship Type="http://schemas.openxmlformats.org/officeDocument/2006/relationships/slideMaster" Target="/ppt/slideMasters/slideMaster1.xml" Id="Rbd57f52504d94953" /><Relationship Type="http://schemas.openxmlformats.org/officeDocument/2006/relationships/notesMaster" Target="/ppt/notesMasters/notesMaster1.xml" Id="Rc982efe1b4ad459f" /><Relationship Type="http://schemas.openxmlformats.org/officeDocument/2006/relationships/presProps" Target="/ppt/presProps.xml" Id="Rfb0c6922079c405c" /><Relationship Type="http://schemas.openxmlformats.org/officeDocument/2006/relationships/tableStyles" Target="/ppt/tableStyles.xml" Id="R65f32e8465ef4190" /><Relationship Type="http://schemas.openxmlformats.org/officeDocument/2006/relationships/slide" Target="/ppt/slides/slide1.xml" Id="Ra37d9abd84374791" /><Relationship Type="http://schemas.openxmlformats.org/officeDocument/2006/relationships/slide" Target="/ppt/slides/slide2.xml" Id="R6f1e451d03154197" /><Relationship Type="http://schemas.openxmlformats.org/officeDocument/2006/relationships/slide" Target="/ppt/slides/slide3.xml" Id="R4e1bb9c32ea0408e" /><Relationship Type="http://schemas.openxmlformats.org/officeDocument/2006/relationships/slide" Target="/ppt/slides/slide4.xml" Id="Re184e2877de047b0" /><Relationship Type="http://schemas.openxmlformats.org/officeDocument/2006/relationships/slide" Target="/ppt/slides/slide5.xml" Id="Ra7b94ed08b1c4f76" /><Relationship Type="http://schemas.openxmlformats.org/officeDocument/2006/relationships/slide" Target="/ppt/slides/slide6.xml" Id="R4efdc2e704614c5c" /><Relationship Type="http://schemas.openxmlformats.org/officeDocument/2006/relationships/slide" Target="/ppt/slides/slide7.xml" Id="R577b6f04e2554832" /><Relationship Type="http://schemas.openxmlformats.org/officeDocument/2006/relationships/slide" Target="/ppt/slides/slide8.xml" Id="Rce728423ed94493c" /><Relationship Type="http://schemas.openxmlformats.org/officeDocument/2006/relationships/slide" Target="/ppt/slides/slide9.xml" Id="R1a0a863708094902" /><Relationship Type="http://schemas.openxmlformats.org/officeDocument/2006/relationships/slide" Target="/ppt/slides/slide10.xml" Id="R8d268a3fd2774c3f" /><Relationship Type="http://schemas.openxmlformats.org/officeDocument/2006/relationships/slide" Target="/ppt/slides/slide11.xml" Id="R6bad115634ea4685" /><Relationship Type="http://schemas.openxmlformats.org/officeDocument/2006/relationships/slide" Target="/ppt/slides/slide12.xml" Id="R366eb1d30be6407c" /><Relationship Type="http://schemas.openxmlformats.org/officeDocument/2006/relationships/slide" Target="/ppt/slides/slide13.xml" Id="R87d3b360dc01426e" /><Relationship Type="http://schemas.openxmlformats.org/officeDocument/2006/relationships/slide" Target="/ppt/slides/slide14.xml" Id="R55bb0e283ead41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eb2568e76e4a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42d857ec244a17" /><Relationship Type="http://schemas.openxmlformats.org/officeDocument/2006/relationships/notesMaster" Target="/ppt/notesMasters/notesMaster1.xml" Id="R4b20cd717b1e45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9523106728496b" /><Relationship Type="http://schemas.openxmlformats.org/officeDocument/2006/relationships/notesMaster" Target="/ppt/notesMasters/notesMaster1.xml" Id="Rcf1caa318d6241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fa0a88da104c20" /><Relationship Type="http://schemas.openxmlformats.org/officeDocument/2006/relationships/notesMaster" Target="/ppt/notesMasters/notesMaster1.xml" Id="R2dc12981022646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d30230a75e456b" /><Relationship Type="http://schemas.openxmlformats.org/officeDocument/2006/relationships/notesMaster" Target="/ppt/notesMasters/notesMaster1.xml" Id="R7f8163cea79c49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f18023229e4a45" /><Relationship Type="http://schemas.openxmlformats.org/officeDocument/2006/relationships/notesMaster" Target="/ppt/notesMasters/notesMaster1.xml" Id="R15b61d253daa47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1fa7f17b094a56" /><Relationship Type="http://schemas.openxmlformats.org/officeDocument/2006/relationships/notesMaster" Target="/ppt/notesMasters/notesMaster1.xml" Id="R7444a4e98c2749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14a8e322da434b" /><Relationship Type="http://schemas.openxmlformats.org/officeDocument/2006/relationships/notesMaster" Target="/ppt/notesMasters/notesMaster1.xml" Id="R1bdb0dd252c04c7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926b95414d64e2f" /><Relationship Type="http://schemas.openxmlformats.org/officeDocument/2006/relationships/notesMaster" Target="/ppt/notesMasters/notesMaster1.xml" Id="R2898b60cc26a4ad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a2d2c182c4e4df3" /><Relationship Type="http://schemas.openxmlformats.org/officeDocument/2006/relationships/notesMaster" Target="/ppt/notesMasters/notesMaster1.xml" Id="Raab018db185b483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c07c7b13843439f" /><Relationship Type="http://schemas.openxmlformats.org/officeDocument/2006/relationships/notesMaster" Target="/ppt/notesMasters/notesMaster1.xml" Id="Rac317e05fb294d6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c2826e9fd67463b" /><Relationship Type="http://schemas.openxmlformats.org/officeDocument/2006/relationships/notesMaster" Target="/ppt/notesMasters/notesMaster1.xml" Id="Rb4b4bd616d5f4cb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b2acd39c24f47b8" /><Relationship Type="http://schemas.openxmlformats.org/officeDocument/2006/relationships/notesMaster" Target="/ppt/notesMasters/notesMaster1.xml" Id="Rd85322c000614c9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20ceb61e683453b" /><Relationship Type="http://schemas.openxmlformats.org/officeDocument/2006/relationships/notesMaster" Target="/ppt/notesMasters/notesMaster1.xml" Id="R09d9b0acc55c475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3cdf7cdc97d4570" /><Relationship Type="http://schemas.openxmlformats.org/officeDocument/2006/relationships/notesMaster" Target="/ppt/notesMasters/notesMaster1.xml" Id="Rfaf2a8d99d8e4b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641d955bf140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3e5faba50e4663" /><Relationship Type="http://schemas.openxmlformats.org/officeDocument/2006/relationships/slideLayout" Target="/ppt/slideLayouts/slideLayout1.xml" Id="Rf1c63b9b347d4a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c63b9b347d4a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c961fb45144bb9" /><Relationship Type="http://schemas.openxmlformats.org/officeDocument/2006/relationships/notesSlide" Target="/ppt/notesSlides/notesSlide1.xml" Id="R5d5ae4cbf88448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43e9ee06ea4592" /><Relationship Type="http://schemas.openxmlformats.org/officeDocument/2006/relationships/notesSlide" Target="/ppt/notesSlides/notesSlide2.xml" Id="R86328547d24247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d2ce088fbf4511" /><Relationship Type="http://schemas.openxmlformats.org/officeDocument/2006/relationships/notesSlide" Target="/ppt/notesSlides/notesSlide3.xml" Id="R6b59fbe1b4f7494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e2012b9f6d456f" /><Relationship Type="http://schemas.openxmlformats.org/officeDocument/2006/relationships/notesSlide" Target="/ppt/notesSlides/notesSlide4.xml" Id="Rbb24297d846642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ee4175fa44490d" /><Relationship Type="http://schemas.openxmlformats.org/officeDocument/2006/relationships/notesSlide" Target="/ppt/notesSlides/notesSlide5.xml" Id="R89318b699cc845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5c7d0b00774c99" /><Relationship Type="http://schemas.openxmlformats.org/officeDocument/2006/relationships/notesSlide" Target="/ppt/notesSlides/notesSlide6.xml" Id="R9a1b8b035f164cd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47142273c24af5" /><Relationship Type="http://schemas.openxmlformats.org/officeDocument/2006/relationships/notesSlide" Target="/ppt/notesSlides/notesSlide7.xml" Id="R0a40bbe46346429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e812c879d84a4b" /><Relationship Type="http://schemas.openxmlformats.org/officeDocument/2006/relationships/notesSlide" Target="/ppt/notesSlides/notesSlide8.xml" Id="R9f864521ef7e481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24cd5c7cab4a01" /><Relationship Type="http://schemas.openxmlformats.org/officeDocument/2006/relationships/notesSlide" Target="/ppt/notesSlides/notesSlide9.xml" Id="R47b37574cba14d8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e96ef11e8d4455" /><Relationship Type="http://schemas.openxmlformats.org/officeDocument/2006/relationships/notesSlide" Target="/ppt/notesSlides/notesSlide10.xml" Id="R679dde32f021416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649f1fec754b9b" /><Relationship Type="http://schemas.openxmlformats.org/officeDocument/2006/relationships/notesSlide" Target="/ppt/notesSlides/notesSlide11.xml" Id="R385c6e60495742a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ecce430bb743e6" /><Relationship Type="http://schemas.openxmlformats.org/officeDocument/2006/relationships/notesSlide" Target="/ppt/notesSlides/notesSlide12.xml" Id="Ra3afaf5f9ebb437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7a3bbb618b47aa" /><Relationship Type="http://schemas.openxmlformats.org/officeDocument/2006/relationships/notesSlide" Target="/ppt/notesSlides/notesSlide13.xml" Id="R9d906c4ce39e42b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b9b539eda54715" /><Relationship Type="http://schemas.openxmlformats.org/officeDocument/2006/relationships/notesSlide" Target="/ppt/notesSlides/notesSlide14.xml" Id="R832282487aa646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10BD67-E71A-4348-8D68-67FDB170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8763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150">
                <a:alpha val="26667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0E9F05-5D08-4653-BBEE-AECB4F42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838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E2C5">
              <a:alpha val="2666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40DD73-EAFE-487F-8703-E34412470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24000"/>
            <a:ext cx="2876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150">
                <a:alpha val="26667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17AA1B-1E95-4677-B632-A6BD8096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485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E2C5">
              <a:alpha val="2666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574BD8-B25A-4535-9EE3-A4ACD5BC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71700"/>
            <a:ext cx="270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150">
                <a:alpha val="26667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FDFCC6-EEE1-41CD-91DB-0792EBE7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133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E2C5">
              <a:alpha val="2666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91F90E-02BD-431B-9170-8EBD87A5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19400"/>
            <a:ext cx="2533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150">
                <a:alpha val="26667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FB65CC-C63A-4198-9291-B524ACA97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781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E2C5">
              <a:alpha val="2666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927887-45FD-43A2-AF11-F3D8056C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67100"/>
            <a:ext cx="236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150">
                <a:alpha val="26667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033A48-6712-45D5-A9EA-BDC2FCDE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429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E2C5">
              <a:alpha val="2666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29AC1C-882D-4555-8887-479F91B9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148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150">
                <a:alpha val="26667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4595EB-F084-4AE1-8C05-36C19964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76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E2C5">
              <a:alpha val="2666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6519EC-8C10-41D9-8400-98832BD8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62500"/>
            <a:ext cx="2019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150">
                <a:alpha val="26667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697839-F524-435E-A71D-18F16F72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724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E2C5">
              <a:alpha val="2666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41F7A5-B53D-41B8-95E3-D9D7D5B0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410200"/>
            <a:ext cx="184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150">
                <a:alpha val="26667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3A7527-B467-439F-A94C-91EBF3C2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372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E2C5">
              <a:alpha val="2666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56DD6C-DFAC-487B-8FAE-48AA294C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2000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E2C5">
              <a:alpha val="13333"/>
            </a:srgbClr>
          </a:solidFill>
          <a:ln xmlns:a="http://schemas.openxmlformats.org/drawingml/2006/main" w="9525">
            <a:solidFill>
              <a:srgbClr val="2DE2C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DE2C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E2C5"/>
                </a:solidFill>
                <a:latin typeface="Aptos"/>
                <a:ea typeface="Aptos"/>
                <a:cs typeface="Aptos"/>
              </a:rPr>
              <a:t>CRYPTOGRAPHY + IDENTITY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971C4E-120D-4924-B672-8D7FEDDA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666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E8F2F5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E8F2F5"/>
                </a:solidFill>
                <a:latin typeface="Aptos Display"/>
                <a:ea typeface="Aptos Display"/>
                <a:cs typeface="Aptos Display"/>
              </a:rPr>
              <a:t>The Cornerstone</a:t>
            </a:r>
          </a:p>
          <a:p xmlns:a="http://schemas.openxmlformats.org/drawingml/2006/main">
            <a:pPr algn="l">
              <a:defRPr sz="4350" b="1">
                <a:solidFill>
                  <a:srgbClr val="E8F2F5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E8F2F5"/>
                </a:solidFill>
                <a:latin typeface="Aptos Display"/>
                <a:ea typeface="Aptos Display"/>
                <a:cs typeface="Aptos Display"/>
              </a:rPr>
              <a:t>of Cybersecurity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984010-295A-41AD-86F9-3E4CCFD9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9CB2B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9CB2BF"/>
                </a:solidFill>
                <a:latin typeface="Aptos"/>
                <a:ea typeface="Aptos"/>
                <a:cs typeface="Aptos"/>
              </a:rPr>
              <a:t>Cryptography and Identity Authentication Technologies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FC7FB9-DAB3-4082-948C-05A10360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28750"/>
            <a:ext cx="29527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102633"/>
          </a:solidFill>
          <a:ln xmlns:a="http://schemas.openxmlformats.org/drawingml/2006/main" w="9525">
            <a:solidFill>
              <a:srgbClr val="2341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5FA409-D8C0-4D73-BFFE-80C94334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8477250" y="1952625"/>
            <a:ext cx="1619250" cy="1619250"/>
          </a:xfrm>
          <a:prstGeom xmlns:a="http://schemas.openxmlformats.org/drawingml/2006/main" prst="pentagon">
            <a:avLst/>
          </a:prstGeom>
          <a:solidFill xmlns:a="http://schemas.openxmlformats.org/drawingml/2006/main">
            <a:srgbClr val="56A6FF">
              <a:alpha val="12549"/>
            </a:srgbClr>
          </a:solidFill>
          <a:ln xmlns:a="http://schemas.openxmlformats.org/drawingml/2006/main" w="28575">
            <a:solidFill>
              <a:srgbClr val="56A6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9EB83D-BBF8-44B4-9189-5B269F19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5410" y="2794635"/>
            <a:ext cx="226695" cy="2266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DE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4E909F-B05E-46EC-8A8D-2E7DF997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3021330"/>
            <a:ext cx="453390" cy="-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DE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8E3190-6815-48D4-8326-8EA1795F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19550"/>
            <a:ext cx="388620" cy="38862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8D66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58A110-9E32-46DA-93A6-7915A673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213860"/>
            <a:ext cx="594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8D66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336751-AC4C-4626-B455-C453EEA4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3130" y="421386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8D66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A2F446-5021-45A3-91C3-6685262E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0290" y="4213860"/>
            <a:ext cx="0" cy="1257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8D66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9DDE42-2225-418E-985E-A72CBB75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990" y="4034790"/>
            <a:ext cx="731520" cy="525780"/>
          </a:xfrm>
          <a:prstGeom xmlns:a="http://schemas.openxmlformats.org/drawingml/2006/main" prst="roundRect">
            <a:avLst>
              <a:gd name="adj" fmla="val 14493"/>
            </a:avLst>
          </a:prstGeom>
          <a:solidFill xmlns:a="http://schemas.openxmlformats.org/drawingml/2006/main">
            <a:srgbClr val="2DE2C5">
              <a:alpha val="13333"/>
            </a:srgbClr>
          </a:solidFill>
          <a:ln xmlns:a="http://schemas.openxmlformats.org/drawingml/2006/main" w="19050">
            <a:solidFill>
              <a:srgbClr val="2DE2C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9CBAF1-A18A-4CFC-8666-533E0659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5290" y="3737610"/>
            <a:ext cx="502920" cy="52578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E2C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5CEB1D-E8A6-474D-822D-3FD406DF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1030" y="4240530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E2C5"/>
          </a:solidFill>
          <a:ln xmlns:a="http://schemas.openxmlformats.org/drawingml/2006/main" w="0">
            <a:solidFill>
              <a:srgbClr val="2DE2C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FEEE4D-230C-4238-A08E-61B87154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00700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DE2C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DE2C5"/>
                </a:solidFill>
                <a:latin typeface="Aptos"/>
                <a:ea typeface="Aptos"/>
                <a:cs typeface="Aptos"/>
              </a:rPr>
              <a:t>Confidentiality | Integrity | Authentication | Trust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4965E0-B90E-4008-BA0F-43306BC8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1912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CB2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CB2B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FF727B-803C-4596-BDC5-8A18F842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13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714302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8C9EDC-53A3-45F5-A3DE-12805A72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E2C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DE2C5"/>
                </a:solidFill>
                <a:latin typeface="Aptos"/>
                <a:ea typeface="Aptos"/>
                <a:cs typeface="Aptos"/>
              </a:rPr>
              <a:t>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C8E3FF-0A00-4F0C-8815-A750D986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8F2F5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E8F2F5"/>
                </a:solidFill>
                <a:latin typeface="Aptos Display"/>
                <a:ea typeface="Aptos Display"/>
                <a:cs typeface="Aptos Display"/>
              </a:rPr>
              <a:t>Roadmap: From Secrecy to Trust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EFA615-4D56-4B86-9E69-7798FD09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E2C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7E37FB-7EDA-49E9-B3EE-43194E57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8572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E1B24"/>
          </a:solidFill>
          <a:ln xmlns:a="http://schemas.openxmlformats.org/drawingml/2006/main" w="9525">
            <a:solidFill>
              <a:srgbClr val="2DE2C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1AEBDF-11F1-40D4-8799-90D2F0A2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145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E2C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DE2C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E5CE6C-D706-4071-BD5B-2DDF61D8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9050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8F2F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E8F2F5"/>
                </a:solidFill>
                <a:latin typeface="Aptos"/>
                <a:ea typeface="Aptos"/>
                <a:cs typeface="Aptos"/>
              </a:rPr>
              <a:t>The Importance of Cryptography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42DFE2-9656-46F8-BF6E-7940DDC2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8572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E1B24"/>
          </a:solidFill>
          <a:ln xmlns:a="http://schemas.openxmlformats.org/drawingml/2006/main" w="9525">
            <a:solidFill>
              <a:srgbClr val="2341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5C2912-8DB8-4929-ADF9-EB62A596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6574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A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6A6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D179F8-6E4E-4ED4-AAF0-41C6E3C6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6479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8F2F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8F2F5"/>
                </a:solidFill>
                <a:latin typeface="Aptos"/>
                <a:ea typeface="Aptos"/>
                <a:cs typeface="Aptos"/>
              </a:rPr>
              <a:t>Symmetric Encryption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C6122A-78E2-4370-AE31-BB00059B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95650"/>
            <a:ext cx="8572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E1B24"/>
          </a:solidFill>
          <a:ln xmlns:a="http://schemas.openxmlformats.org/drawingml/2006/main" w="9525">
            <a:solidFill>
              <a:srgbClr val="2341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FAB81F-DB84-402F-BE52-5DF088C0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004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D66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D66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C960D6-328D-450A-9834-08364BDB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3909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8F2F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8F2F5"/>
                </a:solidFill>
                <a:latin typeface="Aptos"/>
                <a:ea typeface="Aptos"/>
                <a:cs typeface="Aptos"/>
              </a:rPr>
              <a:t>Asymmetric Encryption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6E6A1D-4E40-4D72-920E-72707242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38600"/>
            <a:ext cx="8572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E1B24"/>
          </a:solidFill>
          <a:ln xmlns:a="http://schemas.openxmlformats.org/drawingml/2006/main" w="9525">
            <a:solidFill>
              <a:srgbClr val="2341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B623E0-DE4E-4F8A-8AC1-EAA3E8F11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1433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58C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58C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34B1CB-0D2D-447B-9A83-4F662633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1338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8F2F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8F2F5"/>
                </a:solidFill>
                <a:latin typeface="Aptos"/>
                <a:ea typeface="Aptos"/>
                <a:cs typeface="Aptos"/>
              </a:rPr>
              <a:t>Digital Signatures &amp; Certificates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76BED7-EB8B-4AA3-8F19-2AF1F3AF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8572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E1B24"/>
          </a:solidFill>
          <a:ln xmlns:a="http://schemas.openxmlformats.org/drawingml/2006/main" w="9525">
            <a:solidFill>
              <a:srgbClr val="2341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99EC65-ADD1-4F58-A050-58A63117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8863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6E39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6E39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202DF2-17E5-4943-899E-6479AD65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8768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8F2F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8F2F5"/>
                </a:solidFill>
                <a:latin typeface="Aptos"/>
                <a:ea typeface="Aptos"/>
                <a:cs typeface="Aptos"/>
              </a:rPr>
              <a:t>Cryptography in Identity Authentication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A81F98-131A-4827-93C8-A73D9481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952625"/>
            <a:ext cx="876300" cy="3000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E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190F41-8768-4052-ACCC-680B5781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0434" y="5266944"/>
            <a:ext cx="560832" cy="403098"/>
          </a:xfrm>
          <a:prstGeom xmlns:a="http://schemas.openxmlformats.org/drawingml/2006/main" prst="roundRect">
            <a:avLst>
              <a:gd name="adj" fmla="val 18904"/>
            </a:avLst>
          </a:prstGeom>
          <a:solidFill xmlns:a="http://schemas.openxmlformats.org/drawingml/2006/main">
            <a:srgbClr val="2DE2C5">
              <a:alpha val="13333"/>
            </a:srgbClr>
          </a:solidFill>
          <a:ln xmlns:a="http://schemas.openxmlformats.org/drawingml/2006/main" w="19050">
            <a:solidFill>
              <a:srgbClr val="2DE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421DF5-21CB-4532-BD24-1F66D072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064" y="5039106"/>
            <a:ext cx="385572" cy="403098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E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FBBF70-C2F1-4062-BC56-43FA9E43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5798" y="5424678"/>
            <a:ext cx="70104" cy="701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E2C5"/>
          </a:solidFill>
          <a:ln xmlns:a="http://schemas.openxmlformats.org/drawingml/2006/main" w="0">
            <a:solidFill>
              <a:srgbClr val="2DE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FD32C3-82F1-4625-AE30-945BFE9E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1912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CB2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CB2B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FC6EDF-4646-4543-A0F4-80244C2F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13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678702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7AE1BE-3104-4D4A-8CE4-FD9217A0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E2C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DE2C5"/>
                </a:solidFill>
                <a:latin typeface="Aptos"/>
                <a:ea typeface="Aptos"/>
                <a:cs typeface="Aptos"/>
              </a:rPr>
              <a:t>FOUNDATION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51AC6C-1EC0-4831-8C0F-98AE491C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8F2F5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E8F2F5"/>
                </a:solidFill>
                <a:latin typeface="Aptos Display"/>
                <a:ea typeface="Aptos Display"/>
                <a:cs typeface="Aptos Display"/>
              </a:rPr>
              <a:t>Part 1: The Importance of Cryptography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F92DB6-BDF0-4051-921A-42C18DFE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E2C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5DCFDF-14A3-43AA-8DC1-0F0055B0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F2F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8F2F5"/>
                </a:solidFill>
                <a:latin typeface="Aptos"/>
                <a:ea typeface="Aptos"/>
                <a:cs typeface="Aptos"/>
              </a:rPr>
              <a:t>Cryptography turns security goals into enforceable technical controls.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D6C102-68A6-4BE7-B406-1CB560BC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433387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2633"/>
          </a:solidFill>
          <a:ln xmlns:a="http://schemas.openxmlformats.org/drawingml/2006/main" w="9525">
            <a:solidFill>
              <a:srgbClr val="2DE2C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B7E52F-09E3-4CD2-AA0F-AAF8A231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241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DE2C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DE2C5"/>
                </a:solidFill>
                <a:latin typeface="Aptos"/>
                <a:ea typeface="Aptos"/>
                <a:cs typeface="Aptos"/>
              </a:rPr>
              <a:t>Confidentiality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47F294-F5E2-4C20-ABD0-B4CBB8BA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86075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8F2F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8F2F5"/>
                </a:solidFill>
                <a:latin typeface="Aptos"/>
                <a:ea typeface="Aptos"/>
                <a:cs typeface="Aptos"/>
              </a:rPr>
              <a:t>Only authorized parties can read 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3D8BA0-8C24-4C19-9E59-D26B8AA3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33625"/>
            <a:ext cx="433387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2633"/>
          </a:solidFill>
          <a:ln xmlns:a="http://schemas.openxmlformats.org/drawingml/2006/main" w="9525">
            <a:solidFill>
              <a:srgbClr val="56A6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13B549-96EB-4038-9EA2-81D8025E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5241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6A6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6A6FF"/>
                </a:solidFill>
                <a:latin typeface="Aptos"/>
                <a:ea typeface="Aptos"/>
                <a:cs typeface="Aptos"/>
              </a:rPr>
              <a:t>Integrity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D24E85-EC4C-45CC-8458-13266035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86075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8F2F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8F2F5"/>
                </a:solidFill>
                <a:latin typeface="Aptos"/>
                <a:ea typeface="Aptos"/>
                <a:cs typeface="Aptos"/>
              </a:rPr>
              <a:t>Changes become detectable.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3031B4-9B1A-4E59-ADF0-28C4E5C6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433387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2633"/>
          </a:solidFill>
          <a:ln xmlns:a="http://schemas.openxmlformats.org/drawingml/2006/main" w="9525">
            <a:solidFill>
              <a:srgbClr val="F8D66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DBE794-E99A-40FE-92DB-A097513D0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05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D66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8D66D"/>
                </a:solidFill>
                <a:latin typeface="Aptos"/>
                <a:ea typeface="Aptos"/>
                <a:cs typeface="Aptos"/>
              </a:rPr>
              <a:t>Authentication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DD23CF-1F3C-4F1E-A233-64661D9B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6720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8F2F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8F2F5"/>
                </a:solidFill>
                <a:latin typeface="Aptos"/>
                <a:ea typeface="Aptos"/>
                <a:cs typeface="Aptos"/>
              </a:rPr>
              <a:t>Entities can prove who they are.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621409-F1FB-49A4-B04B-12168763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14750"/>
            <a:ext cx="433387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2633"/>
          </a:solidFill>
          <a:ln xmlns:a="http://schemas.openxmlformats.org/drawingml/2006/main" w="9525">
            <a:solidFill>
              <a:srgbClr val="B58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5ACEE4-9174-4C35-A1BF-A2B82DE8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05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58C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58CFF"/>
                </a:solidFill>
                <a:latin typeface="Aptos"/>
                <a:ea typeface="Aptos"/>
                <a:cs typeface="Aptos"/>
              </a:rPr>
              <a:t>Non-repudiation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32AB25-2AD5-4064-8C7F-BF206785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26720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8F2F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8F2F5"/>
                </a:solidFill>
                <a:latin typeface="Aptos"/>
                <a:ea typeface="Aptos"/>
                <a:cs typeface="Aptos"/>
              </a:rPr>
              <a:t>Signed actions are difficult to deny.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BA7378-8466-4317-A488-4505BD4D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9906000" y="2095500"/>
            <a:ext cx="1123950" cy="1123950"/>
          </a:xfrm>
          <a:prstGeom xmlns:a="http://schemas.openxmlformats.org/drawingml/2006/main" prst="pentagon">
            <a:avLst/>
          </a:prstGeom>
          <a:solidFill xmlns:a="http://schemas.openxmlformats.org/drawingml/2006/main">
            <a:srgbClr val="56A6FF">
              <a:alpha val="12549"/>
            </a:srgbClr>
          </a:solidFill>
          <a:ln xmlns:a="http://schemas.openxmlformats.org/drawingml/2006/main" w="28575">
            <a:solidFill>
              <a:srgbClr val="56A6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068598-946E-4581-8BDD-2BD45B61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5664" y="2679954"/>
            <a:ext cx="157353" cy="1573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DE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297E4C-F45E-4603-88FD-523A53BD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0538" y="2837307"/>
            <a:ext cx="314706" cy="-3371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DE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94BA9B-D160-4F32-B314-B38EB326D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181475"/>
            <a:ext cx="914400" cy="657225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2DE2C5">
              <a:alpha val="13333"/>
            </a:srgbClr>
          </a:solidFill>
          <a:ln xmlns:a="http://schemas.openxmlformats.org/drawingml/2006/main" w="19050">
            <a:solidFill>
              <a:srgbClr val="2DE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9CE594-87A8-47AB-A7CC-18E8F6C1E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10000"/>
            <a:ext cx="628650" cy="657225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E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49392C-5411-44C5-ADFB-BEBD037F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4438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E2C5"/>
          </a:solidFill>
          <a:ln xmlns:a="http://schemas.openxmlformats.org/drawingml/2006/main" w="0">
            <a:solidFill>
              <a:srgbClr val="2DE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70BB0E-15D2-48CA-9C5A-615FBB7E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1912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CB2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CB2B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7D5326-747B-4FE7-9760-91E61E52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13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243728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8B8FF5-966B-47F0-BB93-0BC0EE3D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E2C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DE2C5"/>
                </a:solidFill>
                <a:latin typeface="Aptos"/>
                <a:ea typeface="Aptos"/>
                <a:cs typeface="Aptos"/>
              </a:rPr>
              <a:t>PART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DAE51E-79CF-4A0C-A4FB-FB8A9EBC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8F2F5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E8F2F5"/>
                </a:solidFill>
                <a:latin typeface="Aptos Display"/>
                <a:ea typeface="Aptos Display"/>
                <a:cs typeface="Aptos Display"/>
              </a:rPr>
              <a:t>What Cryptography Protects Against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AB31CA-DF4C-4D71-B555-5EECF839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E2C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91C71B-2867-4FCE-A992-A5F7BBBC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952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02633"/>
          </a:solidFill>
          <a:ln xmlns:a="http://schemas.openxmlformats.org/drawingml/2006/main" w="9525">
            <a:solidFill>
              <a:srgbClr val="2DE2C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D66A6B-742F-4836-B577-9671685C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336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DE2C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DE2C5"/>
                </a:solidFill>
                <a:latin typeface="Aptos"/>
                <a:ea typeface="Aptos"/>
                <a:cs typeface="Aptos"/>
              </a:rPr>
              <a:t>Eavesdropping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17C713-B98A-41D9-9220-EAC1F4C2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38450"/>
            <a:ext cx="2333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8F2F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8F2F5"/>
                </a:solidFill>
                <a:latin typeface="Aptos"/>
                <a:ea typeface="Aptos"/>
                <a:cs typeface="Aptos"/>
              </a:rPr>
              <a:t>Encrypted content is unreadable without keys.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275531-0A8A-422D-AACB-DCF28DA9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2952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02633"/>
          </a:solidFill>
          <a:ln xmlns:a="http://schemas.openxmlformats.org/drawingml/2006/main" w="9525">
            <a:solidFill>
              <a:srgbClr val="F8D66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BF1F69-A9B3-4D55-B61E-CFDE7306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336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8D66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8D66D"/>
                </a:solidFill>
                <a:latin typeface="Aptos"/>
                <a:ea typeface="Aptos"/>
                <a:cs typeface="Aptos"/>
              </a:rPr>
              <a:t>Tampering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FDB130-D8DE-4822-8458-4320A795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38450"/>
            <a:ext cx="2333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8F2F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8F2F5"/>
                </a:solidFill>
                <a:latin typeface="Aptos"/>
                <a:ea typeface="Aptos"/>
                <a:cs typeface="Aptos"/>
              </a:rPr>
              <a:t>Hashes and MACs reveal unauthorized changes.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724187-FC74-4943-ABFD-34B9DD1F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95500"/>
            <a:ext cx="2952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02633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84659A-98DB-4930-BD57-F4C342FA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336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6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6B6B"/>
                </a:solidFill>
                <a:latin typeface="Aptos"/>
                <a:ea typeface="Aptos"/>
                <a:cs typeface="Aptos"/>
              </a:rPr>
              <a:t>Impersonation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9654FA-EF82-4D21-9968-8CBDE1A7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38450"/>
            <a:ext cx="2333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8F2F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8F2F5"/>
                </a:solidFill>
                <a:latin typeface="Aptos"/>
                <a:ea typeface="Aptos"/>
                <a:cs typeface="Aptos"/>
              </a:rPr>
              <a:t>Protocols bind identity to keys or credentials.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89D463-24FC-49B6-BC78-194C6021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435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9CB2B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9CB2BF"/>
                </a:solidFill>
                <a:latin typeface="Aptos"/>
                <a:ea typeface="Aptos"/>
                <a:cs typeface="Aptos"/>
              </a:rPr>
              <a:t>Security is not just hiding data; it is preserving trust across hostile networks.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E0E28E-B23E-4E8F-896D-0F0FE30C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1912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CB2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CB2B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7965D1-048A-40F6-96A0-2C874339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13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70081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CFE38D-74A0-4DCE-83A9-D03D9BA2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E2C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DE2C5"/>
                </a:solidFill>
                <a:latin typeface="Aptos"/>
                <a:ea typeface="Aptos"/>
                <a:cs typeface="Aptos"/>
              </a:rPr>
              <a:t>ONE KEY, FAST PROTECTION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D45B9F-B13C-4F9C-9455-CC2CDECF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8F2F5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E8F2F5"/>
                </a:solidFill>
                <a:latin typeface="Aptos Display"/>
                <a:ea typeface="Aptos Display"/>
                <a:cs typeface="Aptos Display"/>
              </a:rPr>
              <a:t>Part 2: Symmetric Encryption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844EA8-F6FA-430A-9CB3-0B7E0939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E2C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4C7857-9682-4A31-A9AE-F7F8A3F5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62100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F2F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8F2F5"/>
                </a:solidFill>
                <a:latin typeface="Aptos"/>
                <a:ea typeface="Aptos"/>
                <a:cs typeface="Aptos"/>
              </a:rPr>
              <a:t>The same secret key encrypts and decrypts data.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4D384F-545D-45EE-A15C-6F17F3AA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62250"/>
            <a:ext cx="180975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102633"/>
          </a:solidFill>
          <a:ln xmlns:a="http://schemas.openxmlformats.org/drawingml/2006/main" w="9525">
            <a:solidFill>
              <a:srgbClr val="56A6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8F2F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8F2F5"/>
                </a:solidFill>
                <a:latin typeface="Aptos"/>
                <a:ea typeface="Aptos"/>
                <a:cs typeface="Aptos"/>
              </a:rPr>
              <a:t>Plaintext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7BE451-F090-41C0-B6A4-5761FE27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62250"/>
            <a:ext cx="180975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102633"/>
          </a:solidFill>
          <a:ln xmlns:a="http://schemas.openxmlformats.org/drawingml/2006/main" w="9525">
            <a:solidFill>
              <a:srgbClr val="2DE2C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DE2C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DE2C5"/>
                </a:solidFill>
                <a:latin typeface="Aptos"/>
                <a:ea typeface="Aptos"/>
                <a:cs typeface="Aptos"/>
              </a:rPr>
              <a:t>Ciphertext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DFE2C8-DC09-4B6D-9E29-42CC6E5B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762250"/>
            <a:ext cx="180975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102633"/>
          </a:solidFill>
          <a:ln xmlns:a="http://schemas.openxmlformats.org/drawingml/2006/main" w="9525">
            <a:solidFill>
              <a:srgbClr val="56A6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8F2F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8F2F5"/>
                </a:solidFill>
                <a:latin typeface="Aptos"/>
                <a:ea typeface="Aptos"/>
                <a:cs typeface="Aptos"/>
              </a:rPr>
              <a:t>Plaintext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AEA1A9-60E1-4ED2-A6B0-E294A836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819400"/>
            <a:ext cx="356235" cy="35623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8D6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82AC3E-760E-4ABB-95D7-85CB0394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997518"/>
            <a:ext cx="5448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8D66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0431BB-0AD5-45E8-838C-201A5814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890" y="2997518"/>
            <a:ext cx="0" cy="1571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8D66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F44D95-C6B7-4CA9-89C6-8691FCC8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620" y="2997518"/>
            <a:ext cx="0" cy="1152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8D66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3DF746-3D27-492E-9AB6-3416F525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19400"/>
            <a:ext cx="356235" cy="35623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8D6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C830BD-1941-42FD-B89D-6F67F5AD5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997518"/>
            <a:ext cx="5448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8D66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5EB5A2-C5A5-42A6-9D55-C13F5324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7265" y="2997518"/>
            <a:ext cx="0" cy="1571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8D66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64B680-2C11-496E-ABE6-7B802A26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2995" y="2997518"/>
            <a:ext cx="0" cy="1152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8D66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F8BE6E-5DC2-4466-83B8-9AB7FEF6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71825"/>
            <a:ext cx="714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E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337E07-1BA2-4216-9B72-0D9BE496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7182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E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76982D-2FA0-4BB0-893A-A4872F14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00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E2C5"/>
          </a:solidFill>
          <a:ln xmlns:a="http://schemas.openxmlformats.org/drawingml/2006/main" w="0">
            <a:solidFill>
              <a:srgbClr val="2DE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3A2F6C-2301-418B-A882-3BEB742B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24375"/>
            <a:ext cx="436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8F2F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8F2F5"/>
                </a:solidFill>
                <a:latin typeface="Aptos"/>
                <a:ea typeface="Aptos"/>
                <a:cs typeface="Aptos"/>
              </a:rPr>
              <a:t>Excellent for large data streams and storage encryption.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6D5010-95B8-4D1A-A691-1FD48A7A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86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D66D"/>
          </a:solidFill>
          <a:ln xmlns:a="http://schemas.openxmlformats.org/drawingml/2006/main" w="0">
            <a:solidFill>
              <a:srgbClr val="F8D66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3CE85C-3A1E-4AEB-9FEF-0D0B125E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10150"/>
            <a:ext cx="5695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8F2F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8F2F5"/>
                </a:solidFill>
                <a:latin typeface="Aptos"/>
                <a:ea typeface="Aptos"/>
                <a:cs typeface="Aptos"/>
              </a:rPr>
              <a:t>Main challenge: securely sharing and rotating the secret key.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34D934-5DE3-4149-8A17-68937C43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1912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CB2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CB2B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4AEFC6-AE8A-44D8-A1CC-1B54AB6C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13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301635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105592-E0DD-4E1E-862E-45FE3391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E2C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DE2C5"/>
                </a:solidFill>
                <a:latin typeface="Aptos"/>
                <a:ea typeface="Aptos"/>
                <a:cs typeface="Aptos"/>
              </a:rPr>
              <a:t>PART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AC4BFD-7BEB-4EC1-A6D3-9F9D0A93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8F2F5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E8F2F5"/>
                </a:solidFill>
                <a:latin typeface="Aptos Display"/>
                <a:ea typeface="Aptos Display"/>
                <a:cs typeface="Aptos Display"/>
              </a:rPr>
              <a:t>Symmetric Encryption in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66FF4E-591E-43DB-8CB3-D3A0C304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E2C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1C322B-EA9C-46D6-9DDD-A94C9163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02633"/>
          </a:solidFill>
          <a:ln xmlns:a="http://schemas.openxmlformats.org/drawingml/2006/main" w="9525">
            <a:solidFill>
              <a:srgbClr val="2DE2C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82C4F9-614B-43F8-8BC8-CA26BF92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43125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DE2C5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2DE2C5"/>
                </a:solidFill>
                <a:latin typeface="Aptos Display"/>
                <a:ea typeface="Aptos Display"/>
                <a:cs typeface="Aptos Display"/>
              </a:rPr>
              <a:t>AES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D2E8CD-1ECF-412A-B7F6-1178B6EB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33675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8F2F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8F2F5"/>
                </a:solidFill>
                <a:latin typeface="Aptos"/>
                <a:ea typeface="Aptos"/>
                <a:cs typeface="Aptos"/>
              </a:rPr>
              <a:t>Common block cipher for data at rest and transport.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7B3F6-251C-4458-87C1-AE3B7F02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52625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02633"/>
          </a:solidFill>
          <a:ln xmlns:a="http://schemas.openxmlformats.org/drawingml/2006/main" w="9525">
            <a:solidFill>
              <a:srgbClr val="56A6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E5F1E0-E092-493D-95D5-E59481BD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143125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56A6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56A6FF"/>
                </a:solidFill>
                <a:latin typeface="Aptos Display"/>
                <a:ea typeface="Aptos Display"/>
                <a:cs typeface="Aptos Display"/>
              </a:rPr>
              <a:t>MAC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180E10-6BBB-46F5-9B92-5FBDD62C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33675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8F2F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8F2F5"/>
                </a:solidFill>
                <a:latin typeface="Aptos"/>
                <a:ea typeface="Aptos"/>
                <a:cs typeface="Aptos"/>
              </a:rPr>
              <a:t>Message authentication code checks integrity and origin.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FEDF93-5E42-46E0-821A-3378823C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02633"/>
          </a:solidFill>
          <a:ln xmlns:a="http://schemas.openxmlformats.org/drawingml/2006/main" w="9525">
            <a:solidFill>
              <a:srgbClr val="F8D66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B7231B-8663-4384-8CC3-77EB2F14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43125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8D66D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8D66D"/>
                </a:solidFill>
                <a:latin typeface="Aptos Display"/>
                <a:ea typeface="Aptos Display"/>
                <a:cs typeface="Aptos Display"/>
              </a:rPr>
              <a:t>KDF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D5B2CE-E276-4AA3-BC66-FA7402E3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33675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8F2F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8F2F5"/>
                </a:solidFill>
                <a:latin typeface="Aptos"/>
                <a:ea typeface="Aptos"/>
                <a:cs typeface="Aptos"/>
              </a:rPr>
              <a:t>Key derivation creates strong keys from secrets.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075392-CC20-44E1-B121-DD3EF8A5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05000"/>
            <a:ext cx="1809750" cy="28575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02633"/>
          </a:solidFill>
          <a:ln xmlns:a="http://schemas.openxmlformats.org/drawingml/2006/main" w="9525">
            <a:solidFill>
              <a:srgbClr val="2341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EDC056-EC29-41C2-9E90-ED95F033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8365" y="2625090"/>
            <a:ext cx="731520" cy="525780"/>
          </a:xfrm>
          <a:prstGeom xmlns:a="http://schemas.openxmlformats.org/drawingml/2006/main" prst="roundRect">
            <a:avLst>
              <a:gd name="adj" fmla="val 14493"/>
            </a:avLst>
          </a:prstGeom>
          <a:solidFill xmlns:a="http://schemas.openxmlformats.org/drawingml/2006/main">
            <a:srgbClr val="2DE2C5">
              <a:alpha val="13333"/>
            </a:srgbClr>
          </a:solidFill>
          <a:ln xmlns:a="http://schemas.openxmlformats.org/drawingml/2006/main" w="19050">
            <a:solidFill>
              <a:srgbClr val="2DE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D70CB7-8724-4125-AF8D-007F66CF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2665" y="2327910"/>
            <a:ext cx="502920" cy="52578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E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6CB93C-779D-4329-A80B-269192C0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8405" y="2830830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E2C5"/>
          </a:solidFill>
          <a:ln xmlns:a="http://schemas.openxmlformats.org/drawingml/2006/main" w="0">
            <a:solidFill>
              <a:srgbClr val="2DE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CF47AA-C5F1-46FE-B1C7-743DB286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600450"/>
            <a:ext cx="123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8F2F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8F2F5"/>
                </a:solidFill>
                <a:latin typeface="Aptos"/>
                <a:ea typeface="Aptos"/>
                <a:cs typeface="Aptos"/>
              </a:rPr>
              <a:t>Fast</a:t>
            </a:r>
          </a:p>
          <a:p xmlns:a="http://schemas.openxmlformats.org/drawingml/2006/main">
            <a:pPr algn="ctr">
              <a:defRPr sz="1650" b="1">
                <a:solidFill>
                  <a:srgbClr val="E8F2F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8F2F5"/>
                </a:solidFill>
                <a:latin typeface="Aptos"/>
                <a:ea typeface="Aptos"/>
                <a:cs typeface="Aptos"/>
              </a:rPr>
              <a:t>Efficient</a:t>
            </a:r>
          </a:p>
          <a:p xmlns:a="http://schemas.openxmlformats.org/drawingml/2006/main">
            <a:pPr algn="ctr">
              <a:defRPr sz="1650" b="1">
                <a:solidFill>
                  <a:srgbClr val="E8F2F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8F2F5"/>
                </a:solidFill>
                <a:latin typeface="Aptos"/>
                <a:ea typeface="Aptos"/>
                <a:cs typeface="Aptos"/>
              </a:rPr>
              <a:t>Key-sensitive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8E4550-5559-4AAA-AD05-7523F3C0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86375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9CB2B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9CB2BF"/>
                </a:solidFill>
                <a:latin typeface="Aptos"/>
                <a:ea typeface="Aptos"/>
                <a:cs typeface="Aptos"/>
              </a:rPr>
              <a:t>Rule of thumb: symmetric crypto is fast, but key management decides whether it is safe.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708583-769D-4A60-89D5-CB0B5D1F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1912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CB2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CB2B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C3E5F3-6BBA-4F3B-8BBC-2E0EF9BF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13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122909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06D9BB-584D-4060-BA25-4AE2C7CF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E2C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DE2C5"/>
                </a:solidFill>
                <a:latin typeface="Aptos"/>
                <a:ea typeface="Aptos"/>
                <a:cs typeface="Aptos"/>
              </a:rPr>
              <a:t>PUBLIC KEY + PRIVATE KEY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B9FF7D-289B-41CB-9D3C-784D2B86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8F2F5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E8F2F5"/>
                </a:solidFill>
                <a:latin typeface="Aptos Display"/>
                <a:ea typeface="Aptos Display"/>
                <a:cs typeface="Aptos Display"/>
              </a:rPr>
              <a:t>Part 3: Asymmetric Encryption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E1B12A-7284-45F9-85CF-6D7122D6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E2C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2962E9-0A95-467B-B0C6-E9292443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33625"/>
            <a:ext cx="2476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633"/>
          </a:solidFill>
          <a:ln xmlns:a="http://schemas.openxmlformats.org/drawingml/2006/main" w="9525">
            <a:solidFill>
              <a:srgbClr val="56A6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8F2F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E8F2F5"/>
                </a:solidFill>
                <a:latin typeface="Aptos"/>
                <a:ea typeface="Aptos"/>
                <a:cs typeface="Aptos"/>
              </a:rPr>
              <a:t>Public Key</a:t>
            </a:r>
          </a:p>
          <a:p xmlns:a="http://schemas.openxmlformats.org/drawingml/2006/main">
            <a:pPr algn="ctr">
              <a:defRPr sz="1725" b="1">
                <a:solidFill>
                  <a:srgbClr val="E8F2F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E8F2F5"/>
                </a:solidFill>
                <a:latin typeface="Aptos"/>
                <a:ea typeface="Aptos"/>
                <a:cs typeface="Aptos"/>
              </a:rPr>
              <a:t>Share openly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B5D949-B292-423B-9115-F2B6AA08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33625"/>
            <a:ext cx="2476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633"/>
          </a:solidFill>
          <a:ln xmlns:a="http://schemas.openxmlformats.org/drawingml/2006/main" w="9525">
            <a:solidFill>
              <a:srgbClr val="F8D66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8F2F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E8F2F5"/>
                </a:solidFill>
                <a:latin typeface="Aptos"/>
                <a:ea typeface="Aptos"/>
                <a:cs typeface="Aptos"/>
              </a:rPr>
              <a:t>Private Key</a:t>
            </a:r>
          </a:p>
          <a:p xmlns:a="http://schemas.openxmlformats.org/drawingml/2006/main">
            <a:pPr algn="ctr">
              <a:defRPr sz="1725" b="1">
                <a:solidFill>
                  <a:srgbClr val="E8F2F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E8F2F5"/>
                </a:solidFill>
                <a:latin typeface="Aptos"/>
                <a:ea typeface="Aptos"/>
                <a:cs typeface="Aptos"/>
              </a:rPr>
              <a:t>Keep secret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B93D65-1371-4FD6-9FAD-0E009B8A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95500"/>
            <a:ext cx="2286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0E1B24"/>
          </a:solidFill>
          <a:ln xmlns:a="http://schemas.openxmlformats.org/drawingml/2006/main" w="9525">
            <a:solidFill>
              <a:srgbClr val="2DE2C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178FCC-A7C2-4D66-83FD-89B048EB5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590800"/>
            <a:ext cx="388620" cy="38862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E2C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F9916A-48C3-4F46-AA90-D09CA031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785110"/>
            <a:ext cx="594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DE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F775FE-5AA6-45F9-8351-58B1D681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6505" y="278511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DE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616910-7933-4FEE-948C-206C769A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3665" y="2785110"/>
            <a:ext cx="0" cy="1257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DE2C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F82C66-32A6-4D73-BCA4-60CBCC8D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31470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9CB2B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CB2BF"/>
                </a:solidFill>
                <a:latin typeface="Aptos"/>
                <a:ea typeface="Aptos"/>
                <a:cs typeface="Aptos"/>
              </a:rPr>
              <a:t>Mathematically linked</a:t>
            </a:r>
          </a:p>
          <a:p xmlns:a="http://schemas.openxmlformats.org/drawingml/2006/main">
            <a:pPr algn="ctr">
              <a:defRPr sz="1275" b="0">
                <a:solidFill>
                  <a:srgbClr val="9CB2B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CB2BF"/>
                </a:solidFill>
                <a:latin typeface="Aptos"/>
                <a:ea typeface="Aptos"/>
                <a:cs typeface="Aptos"/>
              </a:rPr>
              <a:t>but not interchangeable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1A85E2-12E7-4092-9302-683AF399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95600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E2C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44851A-F691-45FC-AB0E-4DA036F9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95600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E2C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C48E92-E625-4FED-B08B-9B45A683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95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A6FF"/>
          </a:solidFill>
          <a:ln xmlns:a="http://schemas.openxmlformats.org/drawingml/2006/main" w="0">
            <a:solidFill>
              <a:srgbClr val="56A6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84A401-E947-4586-90EE-65D029A4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619625"/>
            <a:ext cx="3981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8F2F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8F2F5"/>
                </a:solidFill>
                <a:latin typeface="Aptos"/>
                <a:ea typeface="Aptos"/>
                <a:cs typeface="Aptos"/>
              </a:rPr>
              <a:t>Enables key exchange over untrusted networks.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CF08B2-A3F0-4E51-8225-1829D85E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95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D66D"/>
          </a:solidFill>
          <a:ln xmlns:a="http://schemas.openxmlformats.org/drawingml/2006/main" w="0">
            <a:solidFill>
              <a:srgbClr val="F8D6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571603-91F3-423E-A68C-AF44489A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619625"/>
            <a:ext cx="3981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8F2F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8F2F5"/>
                </a:solidFill>
                <a:latin typeface="Aptos"/>
                <a:ea typeface="Aptos"/>
                <a:cs typeface="Aptos"/>
              </a:rPr>
              <a:t>Enables signatures without sharing a secret key.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4AF2D9-92E1-42C2-B03B-284F8F16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1912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CB2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CB2B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D41AE1-5B4C-42D2-ABFF-00DE6B4B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13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746620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C43A13-6F6B-44AC-9040-7DD4BB76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E2C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DE2C5"/>
                </a:solidFill>
                <a:latin typeface="Aptos"/>
                <a:ea typeface="Aptos"/>
                <a:cs typeface="Aptos"/>
              </a:rPr>
              <a:t>PART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D1CBF4-14C9-48A4-B198-142CA3D62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8F2F5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E8F2F5"/>
                </a:solidFill>
                <a:latin typeface="Aptos Display"/>
                <a:ea typeface="Aptos Display"/>
                <a:cs typeface="Aptos Display"/>
              </a:rPr>
              <a:t>Why Modern Systems Use Hybrid Cryptography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097C56-7FBA-4BDC-8B46-70ABAE78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E2C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AE951F-BDA5-49D6-ACE7-B8B561697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209800"/>
            <a:ext cx="2857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102633"/>
          </a:solidFill>
          <a:ln xmlns:a="http://schemas.openxmlformats.org/drawingml/2006/main" w="9525">
            <a:solidFill>
              <a:srgbClr val="56A6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EEFEB7-C335-4AB5-973C-23BC9C4A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381250"/>
            <a:ext cx="514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56A6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56A6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18AF20-501B-498C-8588-94A2C6B19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143250"/>
            <a:ext cx="2343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8F2F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8F2F5"/>
                </a:solidFill>
                <a:latin typeface="Aptos"/>
                <a:ea typeface="Aptos"/>
                <a:cs typeface="Aptos"/>
              </a:rPr>
              <a:t>Asymmetric crypto authenticates peers and exchanges a session key.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C4B394-BCD9-4F1F-A0F5-881D2109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3147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E2C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869281-2B9C-42FC-99D0-8FA04A61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09800"/>
            <a:ext cx="2857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102633"/>
          </a:solidFill>
          <a:ln xmlns:a="http://schemas.openxmlformats.org/drawingml/2006/main" w="9525">
            <a:solidFill>
              <a:srgbClr val="2DE2C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202EAB-FC76-4A9D-A861-004BDF6B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381250"/>
            <a:ext cx="514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DE2C5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2DE2C5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ED3AFE-A3CA-48CB-BE1A-D3AFD57A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143250"/>
            <a:ext cx="2343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8F2F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8F2F5"/>
                </a:solidFill>
                <a:latin typeface="Aptos"/>
                <a:ea typeface="Aptos"/>
                <a:cs typeface="Aptos"/>
              </a:rPr>
              <a:t>Symmetric crypto protects the bulk data efficiently.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45F848-B1FC-423A-B051-849EBAE8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3147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E2C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199864-2CF5-4E3F-9CE8-D3B2BF67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09800"/>
            <a:ext cx="2857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102633"/>
          </a:solidFill>
          <a:ln xmlns:a="http://schemas.openxmlformats.org/drawingml/2006/main" w="9525">
            <a:solidFill>
              <a:srgbClr val="F8D66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F86110-B87E-4894-B120-43908ED0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381250"/>
            <a:ext cx="514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8D66D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8D66D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1E1135-99AF-4596-8794-213DEA1F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143250"/>
            <a:ext cx="2343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8F2F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8F2F5"/>
                </a:solidFill>
                <a:latin typeface="Aptos"/>
                <a:ea typeface="Aptos"/>
                <a:cs typeface="Aptos"/>
              </a:rPr>
              <a:t>Fresh session keys limit damage if one connection is exposed.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D2FC62-158F-4A27-8EB9-BCCA6DFE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2197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9CB2B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9CB2BF"/>
                </a:solidFill>
                <a:latin typeface="Aptos"/>
                <a:ea typeface="Aptos"/>
                <a:cs typeface="Aptos"/>
              </a:rPr>
              <a:t>TLS/HTTPS is a familiar example: public-key trust starts the session; symmetric keys carry the traffic.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FA742E-F5C1-4C5C-881C-609AA265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1912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CB2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CB2B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6AB58D-D10C-41B9-9281-F322CBEE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13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210611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57D2D6-2338-4BF9-AA24-7549B66C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E2C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DE2C5"/>
                </a:solidFill>
                <a:latin typeface="Aptos"/>
                <a:ea typeface="Aptos"/>
                <a:cs typeface="Aptos"/>
              </a:rPr>
              <a:t>PROOF OF ORIGIN + INTEGRITY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5867C9-7BF6-4F8E-95DD-7125BF82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8F2F5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E8F2F5"/>
                </a:solidFill>
                <a:latin typeface="Aptos Display"/>
                <a:ea typeface="Aptos Display"/>
                <a:cs typeface="Aptos Display"/>
              </a:rPr>
              <a:t>Part 4: Digital Signatures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67A368-DE18-4C83-8FEC-EF89847E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E2C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BCCD3A-CCE0-4A29-8E30-312CBEC5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33625"/>
            <a:ext cx="1809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633"/>
          </a:solidFill>
          <a:ln xmlns:a="http://schemas.openxmlformats.org/drawingml/2006/main" w="9525">
            <a:solidFill>
              <a:srgbClr val="E8F2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8F2F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E8F2F5"/>
                </a:solidFill>
                <a:latin typeface="Aptos"/>
                <a:ea typeface="Aptos"/>
                <a:cs typeface="Aptos"/>
              </a:rPr>
              <a:t>Message</a:t>
            </a:r>
          </a:p>
          <a:p xmlns:a="http://schemas.openxmlformats.org/drawingml/2006/main">
            <a:pPr algn="ctr">
              <a:defRPr sz="1575" b="1">
                <a:solidFill>
                  <a:srgbClr val="E8F2F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E8F2F5"/>
                </a:solidFill>
                <a:latin typeface="Aptos"/>
                <a:ea typeface="Aptos"/>
                <a:cs typeface="Aptos"/>
              </a:rPr>
              <a:t>or Document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4CA509-9141-4C9C-B23C-3C76AE5E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33625"/>
            <a:ext cx="1809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633"/>
          </a:solidFill>
          <a:ln xmlns:a="http://schemas.openxmlformats.org/drawingml/2006/main" w="9525">
            <a:solidFill>
              <a:srgbClr val="56A6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6A6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6A6FF"/>
                </a:solidFill>
                <a:latin typeface="Aptos"/>
                <a:ea typeface="Aptos"/>
                <a:cs typeface="Aptos"/>
              </a:rPr>
              <a:t>Hash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CF67A4-8EA0-4BEA-9B09-1C7B71D8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33625"/>
            <a:ext cx="1809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633"/>
          </a:solidFill>
          <a:ln xmlns:a="http://schemas.openxmlformats.org/drawingml/2006/main" w="9525">
            <a:solidFill>
              <a:srgbClr val="F8D66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8D66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8D66D"/>
                </a:solidFill>
                <a:latin typeface="Aptos"/>
                <a:ea typeface="Aptos"/>
                <a:cs typeface="Aptos"/>
              </a:rPr>
              <a:t>Signature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497954-B737-4C3C-B257-20DD8246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33625"/>
            <a:ext cx="14763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633"/>
          </a:solidFill>
          <a:ln xmlns:a="http://schemas.openxmlformats.org/drawingml/2006/main" w="9525">
            <a:solidFill>
              <a:srgbClr val="2DE2C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DE2C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DE2C5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424CD9-7921-428F-85F6-31E73A57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05125"/>
            <a:ext cx="971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E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2E4305-DDE8-4DBD-96E9-5465305C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905125"/>
            <a:ext cx="971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E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1103F3-A1A0-468E-B93D-F8605708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05125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E2C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FA2F18-98CE-4369-BFE1-2DAB5DED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76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D66D"/>
          </a:solidFill>
          <a:ln xmlns:a="http://schemas.openxmlformats.org/drawingml/2006/main" w="0">
            <a:solidFill>
              <a:srgbClr val="F8D66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93C2E3-925B-463D-BBEA-F7DD5E02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00550"/>
            <a:ext cx="3886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8F2F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8F2F5"/>
                </a:solidFill>
                <a:latin typeface="Aptos"/>
                <a:ea typeface="Aptos"/>
                <a:cs typeface="Aptos"/>
              </a:rPr>
              <a:t>Signer uses a private key to create the signature.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0D7D87-B8B0-4D0B-8488-32396140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76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E2C5"/>
          </a:solidFill>
          <a:ln xmlns:a="http://schemas.openxmlformats.org/drawingml/2006/main" w="0">
            <a:solidFill>
              <a:srgbClr val="2DE2C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1C3075-446A-40E3-A867-03BD20F7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00550"/>
            <a:ext cx="512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8F2F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8F2F5"/>
                </a:solidFill>
                <a:latin typeface="Aptos"/>
                <a:ea typeface="Aptos"/>
                <a:cs typeface="Aptos"/>
              </a:rPr>
              <a:t>Verifier uses the public key to check authenticity and integrity.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7FB517-ACB8-4C43-AFA7-95A79D35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1912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CB2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CB2BF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2B71E5-A814-4A1F-95AC-B9BFE317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13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745755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3F3F47-6692-4EB7-B50E-0E0BDFA8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E2C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DE2C5"/>
                </a:solidFill>
                <a:latin typeface="Aptos"/>
                <a:ea typeface="Aptos"/>
                <a:cs typeface="Aptos"/>
              </a:rPr>
              <a:t>PART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292670-FFF3-457A-85E7-6BFA53C8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8F2F5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E8F2F5"/>
                </a:solidFill>
                <a:latin typeface="Aptos Display"/>
                <a:ea typeface="Aptos Display"/>
                <a:cs typeface="Aptos Display"/>
              </a:rPr>
              <a:t>Digital Certificates: Binding Identity to Keys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50C371-31C8-4B6E-BDE3-FA19EC94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E2C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272F96-F2AE-4EB0-B735-5BBC3AC3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3286125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102633"/>
          </a:solidFill>
          <a:ln xmlns:a="http://schemas.openxmlformats.org/drawingml/2006/main" w="9525">
            <a:solidFill>
              <a:srgbClr val="56A6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A1F76E-C395-4AE9-B693-67421636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764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6A6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56A6FF"/>
                </a:solidFill>
                <a:latin typeface="Aptos"/>
                <a:ea typeface="Aptos"/>
                <a:cs typeface="Aptos"/>
              </a:rPr>
              <a:t>Certificate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02F5C7-47B1-4F3F-B48A-B4B7B5FB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14625"/>
            <a:ext cx="24288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8F2F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8F2F5"/>
                </a:solidFill>
                <a:latin typeface="Aptos"/>
                <a:ea typeface="Aptos"/>
                <a:cs typeface="Aptos"/>
              </a:rPr>
              <a:t>Subject identity</a:t>
            </a:r>
          </a:p>
          <a:p xmlns:a="http://schemas.openxmlformats.org/drawingml/2006/main">
            <a:pPr algn="l">
              <a:defRPr sz="1650" b="0">
                <a:solidFill>
                  <a:srgbClr val="E8F2F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8F2F5"/>
                </a:solidFill>
                <a:latin typeface="Aptos"/>
                <a:ea typeface="Aptos"/>
                <a:cs typeface="Aptos"/>
              </a:rPr>
              <a:t>Public key</a:t>
            </a:r>
          </a:p>
          <a:p xmlns:a="http://schemas.openxmlformats.org/drawingml/2006/main">
            <a:pPr algn="l">
              <a:defRPr sz="1650" b="0">
                <a:solidFill>
                  <a:srgbClr val="E8F2F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8F2F5"/>
                </a:solidFill>
                <a:latin typeface="Aptos"/>
                <a:ea typeface="Aptos"/>
                <a:cs typeface="Aptos"/>
              </a:rPr>
              <a:t>Issuer</a:t>
            </a:r>
          </a:p>
          <a:p xmlns:a="http://schemas.openxmlformats.org/drawingml/2006/main">
            <a:pPr algn="l">
              <a:defRPr sz="1650" b="0">
                <a:solidFill>
                  <a:srgbClr val="E8F2F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8F2F5"/>
                </a:solidFill>
                <a:latin typeface="Aptos"/>
                <a:ea typeface="Aptos"/>
                <a:cs typeface="Aptos"/>
              </a:rPr>
              <a:t>Validity period</a:t>
            </a:r>
          </a:p>
          <a:p xmlns:a="http://schemas.openxmlformats.org/drawingml/2006/main">
            <a:pPr algn="l">
              <a:defRPr sz="1650" b="0">
                <a:solidFill>
                  <a:srgbClr val="E8F2F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8F2F5"/>
                </a:solidFill>
                <a:latin typeface="Aptos"/>
                <a:ea typeface="Aptos"/>
                <a:cs typeface="Aptos"/>
              </a:rPr>
              <a:t>Signature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913FA6-6C0D-485F-8F5A-9060C3B2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809750"/>
            <a:ext cx="252412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02633"/>
          </a:solidFill>
          <a:ln xmlns:a="http://schemas.openxmlformats.org/drawingml/2006/main" w="9525">
            <a:solidFill>
              <a:srgbClr val="F8D66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E95E31-CA50-4D2C-84B1-963A9FED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17170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8D66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8D66D"/>
                </a:solidFill>
                <a:latin typeface="Aptos"/>
                <a:ea typeface="Aptos"/>
                <a:cs typeface="Aptos"/>
              </a:rPr>
              <a:t>Certificate Authority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31699E-94CC-40D5-AC90-957FB5AD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6191250" y="3143250"/>
            <a:ext cx="876300" cy="876300"/>
          </a:xfrm>
          <a:prstGeom xmlns:a="http://schemas.openxmlformats.org/drawingml/2006/main" prst="pentagon">
            <a:avLst/>
          </a:prstGeom>
          <a:solidFill xmlns:a="http://schemas.openxmlformats.org/drawingml/2006/main">
            <a:srgbClr val="F8D66D">
              <a:alpha val="12549"/>
            </a:srgbClr>
          </a:solidFill>
          <a:ln xmlns:a="http://schemas.openxmlformats.org/drawingml/2006/main" w="28575">
            <a:solidFill>
              <a:srgbClr val="F8D66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8EA6E7-4EC7-4984-91E8-92195AE5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1666" y="3598926"/>
            <a:ext cx="122682" cy="12268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DE2C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C5EA1C-F990-4650-A7B8-DA35BED8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6822" y="3721608"/>
            <a:ext cx="245364" cy="-26289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DE2C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30D8FF-81DE-451E-8BA1-888CA53B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09750"/>
            <a:ext cx="2095500" cy="2952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02633"/>
          </a:solidFill>
          <a:ln xmlns:a="http://schemas.openxmlformats.org/drawingml/2006/main" w="9525">
            <a:solidFill>
              <a:srgbClr val="2DE2C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57EA24-55AA-4525-8997-64676E31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717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DE2C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DE2C5"/>
                </a:solidFill>
                <a:latin typeface="Aptos"/>
                <a:ea typeface="Aptos"/>
                <a:cs typeface="Aptos"/>
              </a:rPr>
              <a:t>Trusted Client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4EBD1F-4875-46DF-90A2-1CAD4E8B9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240" y="3387090"/>
            <a:ext cx="731520" cy="525780"/>
          </a:xfrm>
          <a:prstGeom xmlns:a="http://schemas.openxmlformats.org/drawingml/2006/main" prst="roundRect">
            <a:avLst>
              <a:gd name="adj" fmla="val 14493"/>
            </a:avLst>
          </a:prstGeom>
          <a:solidFill xmlns:a="http://schemas.openxmlformats.org/drawingml/2006/main">
            <a:srgbClr val="2DE2C5">
              <a:alpha val="13333"/>
            </a:srgbClr>
          </a:solidFill>
          <a:ln xmlns:a="http://schemas.openxmlformats.org/drawingml/2006/main" w="19050">
            <a:solidFill>
              <a:srgbClr val="2DE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672377-07EA-441D-96E7-3435AD98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540" y="3089910"/>
            <a:ext cx="502920" cy="52578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E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8617A6-0E57-4160-B5A2-E62302B3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80" y="3592830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E2C5"/>
          </a:solidFill>
          <a:ln xmlns:a="http://schemas.openxmlformats.org/drawingml/2006/main" w="0">
            <a:solidFill>
              <a:srgbClr val="2DE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4E8E32-1095-42EB-809C-641BEB43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809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8D6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D67D78-8CCE-4ACA-AD7B-CD44110F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71750"/>
            <a:ext cx="809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E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CF9608-F413-42F1-BD9F-1339BDA8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149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9CB2B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9CB2BF"/>
                </a:solidFill>
                <a:latin typeface="Aptos"/>
                <a:ea typeface="Aptos"/>
                <a:cs typeface="Aptos"/>
              </a:rPr>
              <a:t>A certificate does not make a key strong; it makes the key accountable to an identity chain.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C8C2BA-1810-4B4F-8DC2-439520C6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1912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CB2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CB2B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F05BCB-C11F-4545-96B2-8E809130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13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444225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F79625-218B-4446-BF12-14C0719F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E2C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DE2C5"/>
                </a:solidFill>
                <a:latin typeface="Aptos"/>
                <a:ea typeface="Aptos"/>
                <a:cs typeface="Aptos"/>
              </a:rPr>
              <a:t>PART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D7F05C-A548-4D71-AFEA-89D813FB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8F2F5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E8F2F5"/>
                </a:solidFill>
                <a:latin typeface="Aptos Display"/>
                <a:ea typeface="Aptos Display"/>
                <a:cs typeface="Aptos Display"/>
              </a:rPr>
              <a:t>Certificate Validation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254D60-14BE-4183-83EE-D2D6A79E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E2C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3A63EA-DFB5-4754-A501-36E82FA8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85950"/>
            <a:ext cx="8382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02633"/>
          </a:solidFill>
          <a:ln xmlns:a="http://schemas.openxmlformats.org/drawingml/2006/main" w="9525">
            <a:solidFill>
              <a:srgbClr val="2DE2C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61BE72-DD63-45F2-8642-21F3A7FC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9716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E2C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DE2C5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054AFA-0106-4212-81EB-5FF75F18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002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8F2F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8F2F5"/>
                </a:solidFill>
                <a:latin typeface="Aptos"/>
                <a:ea typeface="Aptos"/>
                <a:cs typeface="Aptos"/>
              </a:rPr>
              <a:t>Is the certificate within its validity period?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2CC412-4C5F-434E-A0D7-2A56042B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05100"/>
            <a:ext cx="8382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02633"/>
          </a:solidFill>
          <a:ln xmlns:a="http://schemas.openxmlformats.org/drawingml/2006/main" w="9525">
            <a:solidFill>
              <a:srgbClr val="56A6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31A700-33EB-4999-BB36-CF306230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7908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A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6A6FF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4149E6-CEED-4B96-B481-742992D0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194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8F2F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8F2F5"/>
                </a:solidFill>
                <a:latin typeface="Aptos"/>
                <a:ea typeface="Aptos"/>
                <a:cs typeface="Aptos"/>
              </a:rPr>
              <a:t>Does the hostname or identity match?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8A7A60-E806-4144-915D-5F121A47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8382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02633"/>
          </a:solidFill>
          <a:ln xmlns:a="http://schemas.openxmlformats.org/drawingml/2006/main" w="9525">
            <a:solidFill>
              <a:srgbClr val="2DE2C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BF13FF-5F8B-4ED2-9FEB-DC145626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6099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E2C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DE2C5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9374A3-DC58-4E3C-A2B1-EAC82C62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638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8F2F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8F2F5"/>
                </a:solidFill>
                <a:latin typeface="Aptos"/>
                <a:ea typeface="Aptos"/>
                <a:cs typeface="Aptos"/>
              </a:rPr>
              <a:t>Is the issuer trusted by the client?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2E44AE-FF58-4670-9174-2BA5FD66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8382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02633"/>
          </a:solidFill>
          <a:ln xmlns:a="http://schemas.openxmlformats.org/drawingml/2006/main" w="9525">
            <a:solidFill>
              <a:srgbClr val="56A6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9D7A80-D918-49DD-8378-114BD7DC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4291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A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6A6FF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150F3C-8FCD-4DF3-BC60-2D0FD484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4577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8F2F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8F2F5"/>
                </a:solidFill>
                <a:latin typeface="Aptos"/>
                <a:ea typeface="Aptos"/>
                <a:cs typeface="Aptos"/>
              </a:rPr>
              <a:t>Has the certificate been revoked?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89F6EE-55AA-4BDD-B4E0-DA3D347C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2925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8D66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8D66D"/>
                </a:solidFill>
                <a:latin typeface="Aptos"/>
                <a:ea typeface="Aptos"/>
                <a:cs typeface="Aptos"/>
              </a:rPr>
              <a:t>Validation is where "encrypted" becomes "encrypted to the right party."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88144E-2F7D-44E9-863A-F4CFE7A1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1912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CB2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CB2B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BED69A-A2B0-4789-B340-F603AC45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13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503702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220ECF-B88A-4364-BD41-4EF2F8F0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E2C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DE2C5"/>
                </a:solidFill>
                <a:latin typeface="Aptos"/>
                <a:ea typeface="Aptos"/>
                <a:cs typeface="Aptos"/>
              </a:rPr>
              <a:t>FROM SECRET TO ASSURANCE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8F3EE7-AA6E-42CF-999C-765BAF09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8F2F5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E8F2F5"/>
                </a:solidFill>
                <a:latin typeface="Aptos Display"/>
                <a:ea typeface="Aptos Display"/>
                <a:cs typeface="Aptos Display"/>
              </a:rPr>
              <a:t>Part 5: Cryptography in Identity Authentication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A58AAB-0773-47AE-A1B6-F5A6B37D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E2C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32A180-A7EC-4E2B-A393-1A5B24AC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290512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633"/>
          </a:solidFill>
          <a:ln xmlns:a="http://schemas.openxmlformats.org/drawingml/2006/main" w="9525">
            <a:solidFill>
              <a:srgbClr val="F8D66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CD7AF3-61FE-447A-9CBD-EBF69AF8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3622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D66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8D66D"/>
                </a:solidFill>
                <a:latin typeface="Aptos"/>
                <a:ea typeface="Aptos"/>
                <a:cs typeface="Aptos"/>
              </a:rPr>
              <a:t>Something you know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05A651-E0B7-4E9D-9A70-2EE980A2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09900"/>
            <a:ext cx="230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8F2F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8F2F5"/>
                </a:solidFill>
                <a:latin typeface="Aptos"/>
                <a:ea typeface="Aptos"/>
                <a:cs typeface="Aptos"/>
              </a:rPr>
              <a:t>Password -&gt; hashed and salted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B40911-9CEA-49B4-B8A6-07E555CE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95500"/>
            <a:ext cx="290512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633"/>
          </a:solidFill>
          <a:ln xmlns:a="http://schemas.openxmlformats.org/drawingml/2006/main" w="9525">
            <a:solidFill>
              <a:srgbClr val="56A6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882D57-496C-4D37-ABB0-5271517C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3622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6A6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6A6FF"/>
                </a:solidFill>
                <a:latin typeface="Aptos"/>
                <a:ea typeface="Aptos"/>
                <a:cs typeface="Aptos"/>
              </a:rPr>
              <a:t>Something you have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F0C79A-58BA-4062-B8F2-478CC7FE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009900"/>
            <a:ext cx="230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8F2F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8F2F5"/>
                </a:solidFill>
                <a:latin typeface="Aptos"/>
                <a:ea typeface="Aptos"/>
                <a:cs typeface="Aptos"/>
              </a:rPr>
              <a:t>Token, smart card, private key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6E3121-7AB4-4CA4-9373-E293B302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290512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633"/>
          </a:solidFill>
          <a:ln xmlns:a="http://schemas.openxmlformats.org/drawingml/2006/main" w="9525">
            <a:solidFill>
              <a:srgbClr val="B58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17924A-36E9-46CF-B2A8-6833886F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622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58C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58CFF"/>
                </a:solidFill>
                <a:latin typeface="Aptos"/>
                <a:ea typeface="Aptos"/>
                <a:cs typeface="Aptos"/>
              </a:rPr>
              <a:t>Something you 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8108B2-7D70-452C-A87C-720A4BF3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230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8F2F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8F2F5"/>
                </a:solidFill>
                <a:latin typeface="Aptos"/>
                <a:ea typeface="Aptos"/>
                <a:cs typeface="Aptos"/>
              </a:rPr>
              <a:t>Biometric template protection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195DD8-F0B3-4BDE-A5C5-7FC79F35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38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E2C5"/>
          </a:solidFill>
          <a:ln xmlns:a="http://schemas.openxmlformats.org/drawingml/2006/main" w="0">
            <a:solidFill>
              <a:srgbClr val="2DE2C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943F20-A2BB-4BA9-A8E3-3047C3BD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762500"/>
            <a:ext cx="788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8F2F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8F2F5"/>
                </a:solidFill>
                <a:latin typeface="Aptos"/>
                <a:ea typeface="Aptos"/>
                <a:cs typeface="Aptos"/>
              </a:rPr>
              <a:t>Authentication should verify identity without exposing reusable secrets.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9E2ACC-C243-4335-8102-8F7028AB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14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E39B"/>
          </a:solidFill>
          <a:ln xmlns:a="http://schemas.openxmlformats.org/drawingml/2006/main" w="0">
            <a:solidFill>
              <a:srgbClr val="76E39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C7EE42-80C0-437A-AF9A-8F817908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5238750"/>
            <a:ext cx="788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8F2F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8F2F5"/>
                </a:solidFill>
                <a:latin typeface="Aptos"/>
                <a:ea typeface="Aptos"/>
                <a:cs typeface="Aptos"/>
              </a:rPr>
              <a:t>MFA combines independent evidence so one failure is not the whole system.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3BDD1B-3749-4003-8331-46DAFCFE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1912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CB2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CB2B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21594A-8CAB-4A00-8176-13354409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13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5519985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06A1AC-6188-45AF-94DB-E642B9A8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E2C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DE2C5"/>
                </a:solidFill>
                <a:latin typeface="Aptos"/>
                <a:ea typeface="Aptos"/>
                <a:cs typeface="Aptos"/>
              </a:rPr>
              <a:t>PART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82134E-129A-4374-AC8B-AAB2C602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8F2F5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E8F2F5"/>
                </a:solidFill>
                <a:latin typeface="Aptos Display"/>
                <a:ea typeface="Aptos Display"/>
                <a:cs typeface="Aptos Display"/>
              </a:rPr>
              <a:t>A Typical Cryptographic Authentication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F10BCD-BB2A-4B67-B815-0D440DB9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E2C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6D8F18-2DC9-4834-A2E3-EA7B9D71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20955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02633"/>
          </a:solidFill>
          <a:ln xmlns:a="http://schemas.openxmlformats.org/drawingml/2006/main" w="9525">
            <a:solidFill>
              <a:srgbClr val="2DE2C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C70B04-75A8-47E9-8B42-A10340B0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DE2C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DE2C5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FC9BDC-5656-4B19-B43E-CC90520E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0040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8F2F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8F2F5"/>
                </a:solidFill>
                <a:latin typeface="Aptos"/>
                <a:ea typeface="Aptos"/>
                <a:cs typeface="Aptos"/>
              </a:rPr>
              <a:t>Credential / key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BD6FE9-46BD-4F53-B7D1-00EFA306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71825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E2C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F0382C-0B5C-4984-B21E-6B95022B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24125"/>
            <a:ext cx="20955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02633"/>
          </a:solidFill>
          <a:ln xmlns:a="http://schemas.openxmlformats.org/drawingml/2006/main" w="9525">
            <a:solidFill>
              <a:srgbClr val="56A6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501129-851D-40DD-BD90-81D4F0C1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7813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6A6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6A6FF"/>
                </a:solidFill>
                <a:latin typeface="Aptos"/>
                <a:ea typeface="Aptos"/>
                <a:cs typeface="Aptos"/>
              </a:rPr>
              <a:t>Client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DE6A02-9EA2-4DDE-9B6D-749AB8A7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20040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8F2F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8F2F5"/>
                </a:solidFill>
                <a:latin typeface="Aptos"/>
                <a:ea typeface="Aptos"/>
                <a:cs typeface="Aptos"/>
              </a:rPr>
              <a:t>Challenge response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77C72F-CD2E-4A41-99E2-D068FDA6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171825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E2C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764DF8-6FCB-4CC8-810B-BF8354D4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24125"/>
            <a:ext cx="20955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02633"/>
          </a:solidFill>
          <a:ln xmlns:a="http://schemas.openxmlformats.org/drawingml/2006/main" w="9525">
            <a:solidFill>
              <a:srgbClr val="F8D66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3A92D3-AFD5-4845-9455-8ED7DAD3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813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8D66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8D66D"/>
                </a:solidFill>
                <a:latin typeface="Aptos"/>
                <a:ea typeface="Aptos"/>
                <a:cs typeface="Aptos"/>
              </a:rPr>
              <a:t>Identity Provider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A269C5-EA95-485C-9D60-7E0474D9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0040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8F2F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8F2F5"/>
                </a:solidFill>
                <a:latin typeface="Aptos"/>
                <a:ea typeface="Aptos"/>
                <a:cs typeface="Aptos"/>
              </a:rPr>
              <a:t>Verify + issue token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0BBCF2-0FC7-42C4-9D3B-385C31F8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71825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E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78C6AF-CA00-47DD-A5C3-3D9295FA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24125"/>
            <a:ext cx="20955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02633"/>
          </a:solidFill>
          <a:ln xmlns:a="http://schemas.openxmlformats.org/drawingml/2006/main" w="9525">
            <a:solidFill>
              <a:srgbClr val="76E39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319A2F-292B-4F5D-95D4-0C5042C1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7813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6E39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6E39B"/>
                </a:solidFill>
                <a:latin typeface="Aptos"/>
                <a:ea typeface="Aptos"/>
                <a:cs typeface="Aptos"/>
              </a:rPr>
              <a:t>Service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D988AF-F26B-4F9E-9384-7CE8BE1E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20040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8F2F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8F2F5"/>
                </a:solidFill>
                <a:latin typeface="Aptos"/>
                <a:ea typeface="Aptos"/>
                <a:cs typeface="Aptos"/>
              </a:rPr>
              <a:t>Authorize access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4172B3-3A0B-419A-A58E-A6E4ADAD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958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9CB2B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9CB2BF"/>
                </a:solidFill>
                <a:latin typeface="Aptos"/>
                <a:ea typeface="Aptos"/>
                <a:cs typeface="Aptos"/>
              </a:rPr>
              <a:t>Cryptography supports authentication by proving possession, protecting credentials, and securing tokens in transit.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3D05C2-9238-4D9F-A986-83A93BAE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1912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CB2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CB2BF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6DB16C-26DA-4B08-80B8-8AD519DE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13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6444019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124047-973F-4D7D-A5DB-F34828380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E2C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DE2C5"/>
                </a:solidFill>
                <a:latin typeface="Aptos"/>
                <a:ea typeface="Aptos"/>
                <a:cs typeface="Aptos"/>
              </a:rPr>
              <a:t>CLOSING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392D7C-38E1-4F22-B168-F6712A1E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8F2F5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E8F2F5"/>
                </a:solidFill>
                <a:latin typeface="Aptos Display"/>
                <a:ea typeface="Aptos Display"/>
                <a:cs typeface="Aptos Display"/>
              </a:rPr>
              <a:t>Key Takeaways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5DD8CE-C19D-4765-B42E-B7FFFFB9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E2C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E4E05A-8C0E-4411-A64B-DF7552EF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90700"/>
            <a:ext cx="8096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2633"/>
          </a:solidFill>
          <a:ln xmlns:a="http://schemas.openxmlformats.org/drawingml/2006/main" w="9525">
            <a:solidFill>
              <a:srgbClr val="2DE2C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6A0B5A-2EBB-4D1C-B1D8-86207651D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240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DE2C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DE2C5"/>
                </a:solidFill>
                <a:latin typeface="Aptos"/>
                <a:ea typeface="Aptos"/>
                <a:cs typeface="Aptos"/>
              </a:rPr>
              <a:t>Cryptography is a trust engine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20A1EC-D966-49B7-B27D-B22FB95B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4310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8F2F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8F2F5"/>
                </a:solidFill>
                <a:latin typeface="Aptos"/>
                <a:ea typeface="Aptos"/>
                <a:cs typeface="Aptos"/>
              </a:rPr>
              <a:t>It protects confidentiality, integrity, authenticity, and accountability.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553F0A-EEA2-4BD0-BB36-817529A70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86075"/>
            <a:ext cx="8096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2633"/>
          </a:solidFill>
          <a:ln xmlns:a="http://schemas.openxmlformats.org/drawingml/2006/main" w="9525">
            <a:solidFill>
              <a:srgbClr val="56A6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08FC72-7B33-4B58-BAB8-A71C0169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194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6A6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56A6FF"/>
                </a:solidFill>
                <a:latin typeface="Aptos"/>
                <a:ea typeface="Aptos"/>
                <a:cs typeface="Aptos"/>
              </a:rPr>
              <a:t>Symmetric + asymmetric work together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549F77-0683-41A6-907C-CFCD5CEE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3847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8F2F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8F2F5"/>
                </a:solidFill>
                <a:latin typeface="Aptos"/>
                <a:ea typeface="Aptos"/>
                <a:cs typeface="Aptos"/>
              </a:rPr>
              <a:t>One is fast for data; the other solves trust and key exchange.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84CAEE-A04A-49E7-9CF0-A6B3F64C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81450"/>
            <a:ext cx="8096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2633"/>
          </a:solidFill>
          <a:ln xmlns:a="http://schemas.openxmlformats.org/drawingml/2006/main" w="9525">
            <a:solidFill>
              <a:srgbClr val="F8D66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A96149-0169-4DA7-8242-199BF107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148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D66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8D66D"/>
                </a:solidFill>
                <a:latin typeface="Aptos"/>
                <a:ea typeface="Aptos"/>
                <a:cs typeface="Aptos"/>
              </a:rPr>
              <a:t>Identity depends on cryptographic proof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EF2EBB-5936-43A6-97AF-B02C9900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338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8F2F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8F2F5"/>
                </a:solidFill>
                <a:latin typeface="Aptos"/>
                <a:ea typeface="Aptos"/>
                <a:cs typeface="Aptos"/>
              </a:rPr>
              <a:t>Passwords, certificates, tokens, and signatures all rely on keys and verification.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52D5C2-A848-4015-9E7E-B746F096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9810750" y="2362200"/>
            <a:ext cx="1238250" cy="1238250"/>
          </a:xfrm>
          <a:prstGeom xmlns:a="http://schemas.openxmlformats.org/drawingml/2006/main" prst="pentagon">
            <a:avLst/>
          </a:prstGeom>
          <a:solidFill xmlns:a="http://schemas.openxmlformats.org/drawingml/2006/main">
            <a:srgbClr val="56A6FF">
              <a:alpha val="12549"/>
            </a:srgbClr>
          </a:solidFill>
          <a:ln xmlns:a="http://schemas.openxmlformats.org/drawingml/2006/main" w="28575">
            <a:solidFill>
              <a:srgbClr val="56A6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BE81EC-7077-4EDF-B7C3-5779B7C8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6990" y="3006090"/>
            <a:ext cx="173355" cy="1733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DE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51FA1A-0F59-49F7-83E0-0B69BC08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5580" y="3179445"/>
            <a:ext cx="346710" cy="-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DE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B9BCA2-D73E-415A-86B6-DC98AD42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257675"/>
            <a:ext cx="437198" cy="43719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8D6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C6F003-ACE4-48D4-885A-C5BE6689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313" y="4476274"/>
            <a:ext cx="66865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8D6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9BAC50-7664-4199-8B6C-50326E4BA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3228" y="4476274"/>
            <a:ext cx="0" cy="1928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8D66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12F239-328F-4E39-9D36-DCE606BA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7533" y="4476274"/>
            <a:ext cx="0" cy="1414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8D66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C37320-5ED9-426A-A571-0A5F07C5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572125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DE2C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DE2C5"/>
                </a:solidFill>
                <a:latin typeface="Aptos"/>
                <a:ea typeface="Aptos"/>
                <a:cs typeface="Aptos"/>
              </a:rPr>
              <a:t>Security is strongest when cryptography, identity, and operations are designed together.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5EA000-F1F5-429D-B12A-95512F50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1912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CB2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CB2BF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577807-4E75-45A6-B222-D0B563C67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13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100682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2026-06-15T11:14:12.1900000Z</dcterms:created>
  <dcterms:modified xsi:type="dcterms:W3CDTF">2026-06-15T11:14:12.1900000Z</dcterms:modified>
</coreProperties>
</file>